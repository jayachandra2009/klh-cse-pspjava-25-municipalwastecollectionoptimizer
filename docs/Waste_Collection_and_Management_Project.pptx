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github.com/jayachandra2009/KLH-CSE-PSPJAVA-25-MunicipalWasteCollectionOptimiz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rPr dirty="0"/>
              <a:t>WASTE COLLECTION</a:t>
            </a:r>
          </a:p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rPr dirty="0"/>
              <a:t>AND MANAGEMENT</a:t>
            </a:r>
          </a:p>
          <a:p>
            <a:pPr>
              <a:spcAft>
                <a:spcPts val="500"/>
              </a:spcAft>
              <a:defRPr sz="1700" b="0">
                <a:solidFill>
                  <a:srgbClr val="26845E"/>
                </a:solidFill>
                <a:latin typeface="Aptos Display"/>
              </a:defRPr>
            </a:pPr>
            <a:r>
              <a:rPr dirty="0"/>
              <a:t>Team No: []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24D5C2-DC8D-3B43-2841-065C04AC7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098008"/>
              </p:ext>
            </p:extLst>
          </p:nvPr>
        </p:nvGraphicFramePr>
        <p:xfrm>
          <a:off x="1679713" y="3816626"/>
          <a:ext cx="8988287" cy="8352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35696">
                  <a:extLst>
                    <a:ext uri="{9D8B030D-6E8A-4147-A177-3AD203B41FA5}">
                      <a16:colId xmlns:a16="http://schemas.microsoft.com/office/drawing/2014/main" val="1428438577"/>
                    </a:ext>
                  </a:extLst>
                </a:gridCol>
                <a:gridCol w="6652591">
                  <a:extLst>
                    <a:ext uri="{9D8B030D-6E8A-4147-A177-3AD203B41FA5}">
                      <a16:colId xmlns:a16="http://schemas.microsoft.com/office/drawing/2014/main" val="588539005"/>
                    </a:ext>
                  </a:extLst>
                </a:gridCol>
              </a:tblGrid>
              <a:tr h="294950">
                <a:tc>
                  <a:txBody>
                    <a:bodyPr/>
                    <a:lstStyle/>
                    <a:p>
                      <a:pPr marR="40005" algn="ctr">
                        <a:lnSpc>
                          <a:spcPct val="107000"/>
                        </a:lnSpc>
                        <a:spcAft>
                          <a:spcPts val="98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   2620030154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28575" marT="26035" marB="0"/>
                </a:tc>
                <a:tc>
                  <a:txBody>
                    <a:bodyPr/>
                    <a:lstStyle/>
                    <a:p>
                      <a:pPr marR="42545" algn="just">
                        <a:lnSpc>
                          <a:spcPct val="107000"/>
                        </a:lnSpc>
                        <a:spcAft>
                          <a:spcPts val="98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                     RAMADUGULA ADITYA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28575" marT="26035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208290"/>
                  </a:ext>
                </a:extLst>
              </a:tr>
              <a:tr h="270127">
                <a:tc>
                  <a:txBody>
                    <a:bodyPr/>
                    <a:lstStyle/>
                    <a:p>
                      <a:pPr marR="40005" algn="just">
                        <a:lnSpc>
                          <a:spcPct val="107000"/>
                        </a:lnSpc>
                        <a:spcAft>
                          <a:spcPts val="98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                       2620030072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28575" marT="26035" marB="0"/>
                </a:tc>
                <a:tc>
                  <a:txBody>
                    <a:bodyPr/>
                    <a:lstStyle/>
                    <a:p>
                      <a:pPr marR="42545" algn="just">
                        <a:lnSpc>
                          <a:spcPct val="107000"/>
                        </a:lnSpc>
                        <a:spcAft>
                          <a:spcPts val="98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                    </a:t>
                      </a: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ADITYA KIRAN PESINGI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28575" marT="26035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920190"/>
                  </a:ext>
                </a:extLst>
              </a:tr>
              <a:tr h="270127">
                <a:tc>
                  <a:txBody>
                    <a:bodyPr/>
                    <a:lstStyle/>
                    <a:p>
                      <a:pPr marR="40005" algn="ctr">
                        <a:lnSpc>
                          <a:spcPct val="107000"/>
                        </a:lnSpc>
                        <a:spcAft>
                          <a:spcPts val="98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   2620030031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28575" marT="26035" marB="0"/>
                </a:tc>
                <a:tc>
                  <a:txBody>
                    <a:bodyPr/>
                    <a:lstStyle/>
                    <a:p>
                      <a:pPr marR="43815" algn="just">
                        <a:lnSpc>
                          <a:spcPct val="107000"/>
                        </a:lnSpc>
                        <a:spcAft>
                          <a:spcPts val="98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                    </a:t>
                      </a:r>
                      <a:r>
                        <a:rPr lang="en-IN" sz="1200" kern="100" dirty="0">
                          <a:solidFill>
                            <a:schemeClr val="bg1"/>
                          </a:solidFill>
                          <a:effectLst/>
                        </a:rPr>
                        <a:t>JAYACHANDRA PERUGU</a:t>
                      </a:r>
                      <a:endParaRPr lang="en-IN" sz="12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28575" marT="26035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313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357"/>
            <a:ext cx="10515600" cy="1325563"/>
          </a:xfrm>
        </p:spPr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rPr dirty="0"/>
              <a:t>Abstract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8200" y="1297178"/>
            <a:ext cx="2590800" cy="628587"/>
          </a:xfrm>
          <a:prstGeom prst="round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9966960" cy="2148840"/>
          </a:xfrm>
          <a:prstGeom prst="rect">
            <a:avLst/>
          </a:prstGeom>
          <a:noFill/>
        </p:spPr>
        <p:txBody>
          <a:bodyPr wrap="square" lIns="54864" tIns="54864" rIns="54864" bIns="27432" anchor="t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rPr dirty="0"/>
              <a:t>Waste Collection and Management is a Java-based project for recording waste quantities across different areas. It stores area names and waste amounts, calculates the total collected waste, and helps identify high-priority areas. A menu-driven interface supports registering and displaying records. Methods and method overloading make calculations reusable, while inheritance extends collection features. Input validation and exception handling help manage invalid entries, and an </a:t>
            </a:r>
            <a:r>
              <a:rPr dirty="0" err="1"/>
              <a:t>ArrayList</a:t>
            </a:r>
            <a:r>
              <a:rPr dirty="0"/>
              <a:t> maintains a flexible list of registered areas. The project demonstrates how core Java concepts can support more organized waste monitoring, collection planning, and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617720"/>
            <a:ext cx="9966960" cy="822960"/>
          </a:xfrm>
          <a:prstGeom prst="roundRect">
            <a:avLst/>
          </a:prstGeom>
          <a:solidFill>
            <a:srgbClr val="E5F4EC"/>
          </a:solidFill>
          <a:ln>
            <a:solidFill>
              <a:srgbClr val="E5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4773168"/>
            <a:ext cx="950976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26845E"/>
                </a:solidFill>
                <a:latin typeface="Aptos"/>
              </a:defRPr>
            </a:pPr>
            <a:r>
              <a:t>KEY FOCUS   •   Record areas   •   Calculate totals   •   Flag priorities   •   Validate input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rPr dirty="0"/>
              <a:t>Understanding the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Waste details can be difficult to track when area names, quantities, and collection priorities are recorded inconsistently</a:t>
            </a:r>
            <a:endParaRPr lang="en-IN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65176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99744" y="2770631"/>
            <a:ext cx="73682" cy="1123125"/>
          </a:xfrm>
          <a:prstGeom prst="rect">
            <a:avLst/>
          </a:prstGeom>
          <a:solidFill>
            <a:srgbClr val="E29238"/>
          </a:solidFill>
          <a:ln>
            <a:solidFill>
              <a:srgbClr val="E2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770632"/>
            <a:ext cx="2843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27248"/>
            <a:ext cx="2843784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Manual records can be hard to update, total, and compare across areas.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65176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57116" y="2770631"/>
            <a:ext cx="82296" cy="1036057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770632"/>
            <a:ext cx="2843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THE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127248"/>
            <a:ext cx="2843784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A simple system to register areas, store waste amounts, and summarize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71816" y="2651760"/>
            <a:ext cx="3154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701964" y="2796671"/>
            <a:ext cx="104296" cy="1036057"/>
          </a:xfrm>
          <a:prstGeom prst="rect">
            <a:avLst/>
          </a:prstGeom>
          <a:solidFill>
            <a:srgbClr val="18304B"/>
          </a:solidFill>
          <a:ln>
            <a:solidFill>
              <a:srgbClr val="18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54696" y="2770632"/>
            <a:ext cx="2843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THE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4696" y="3127248"/>
            <a:ext cx="2843784" cy="7772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A Java menu-driven program with arrays, methods, decisions, and validation.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434840"/>
            <a:ext cx="1508760" cy="310896"/>
          </a:xfrm>
          <a:prstGeom prst="round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28032"/>
            <a:ext cx="996696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232D37"/>
                </a:solidFill>
                <a:latin typeface="Aptos"/>
              </a:defRPr>
            </a:pPr>
            <a:r>
              <a:t>To make waste records easier to maintain, calculate total collected waste accurately, and highlight areas that may require priority collection.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t>CO 1 — Data Types, Operators &amp; Scanner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19072"/>
            <a:ext cx="1143000" cy="310896"/>
          </a:xfrm>
          <a:prstGeom prst="round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MODULE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212848"/>
            <a:ext cx="4709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flipH="1">
            <a:off x="880602" y="2377440"/>
            <a:ext cx="134381" cy="1745712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DATA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4026" y="2702052"/>
            <a:ext cx="4398264" cy="17830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232D37"/>
                </a:solidFill>
                <a:latin typeface="Aptos"/>
              </a:defRPr>
            </a:pPr>
            <a:r>
              <a:t>double amount — stores a waste quantity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D37"/>
                </a:solidFill>
                <a:latin typeface="Aptos"/>
              </a:defRPr>
            </a:pPr>
            <a:r>
              <a:t>int count — stores the number of areas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232D37"/>
                </a:solidFill>
                <a:latin typeface="Aptos"/>
              </a:defRPr>
            </a:pPr>
            <a:r>
              <a:t>String name — stores an area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212848"/>
            <a:ext cx="4709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52160" y="2487168"/>
            <a:ext cx="122054" cy="1715936"/>
          </a:xfrm>
          <a:prstGeom prst="rect">
            <a:avLst/>
          </a:prstGeom>
          <a:solidFill>
            <a:srgbClr val="18304B"/>
          </a:solidFill>
          <a:ln>
            <a:solidFill>
              <a:srgbClr val="18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246995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rPr dirty="0"/>
              <a:t>OPERATORS &amp;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6135" y="2503580"/>
            <a:ext cx="3995530" cy="214212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rPr dirty="0"/>
              <a:t>total += </a:t>
            </a:r>
            <a:r>
              <a:rPr dirty="0" err="1"/>
              <a:t>wasteAmounts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 adds each amount to the running total.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endParaRPr lang="en-US" dirty="0"/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rPr dirty="0"/>
              <a:t>Scanner </a:t>
            </a:r>
            <a:r>
              <a:rPr dirty="0" err="1"/>
              <a:t>sc</a:t>
            </a:r>
            <a:r>
              <a:rPr dirty="0"/>
              <a:t> = new Scanner(System.in) accepts user input.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rPr dirty="0" err="1"/>
              <a:t>Double.parseDouble</a:t>
            </a:r>
            <a:r>
              <a:rPr dirty="0"/>
              <a:t>(</a:t>
            </a:r>
            <a:r>
              <a:rPr dirty="0" err="1"/>
              <a:t>sc.nextLine</a:t>
            </a:r>
            <a:r>
              <a:rPr dirty="0"/>
              <a:t>()) converts the entered quantity to a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892040"/>
            <a:ext cx="9784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6845E"/>
                </a:solidFill>
                <a:latin typeface="Aptos"/>
              </a:defRPr>
            </a:pPr>
            <a:r>
              <a:t>CO application: capture waste data and calculate totals from user-provided values.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t>CO 2 — Loops &amp; Conditional Statements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19072"/>
            <a:ext cx="1143000" cy="310896"/>
          </a:xfrm>
          <a:prstGeom prst="round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MODULE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212848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7050" y="2397315"/>
            <a:ext cx="79646" cy="1011810"/>
          </a:xfrm>
          <a:prstGeom prst="rect">
            <a:avLst/>
          </a:prstGeom>
          <a:solidFill>
            <a:srgbClr val="E29238"/>
          </a:solidFill>
          <a:ln>
            <a:solidFill>
              <a:srgbClr val="E2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IF–ELSE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88336"/>
            <a:ext cx="4398264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if (wasteAmounts[i] &gt;= 100) identifies areas with high waste quantities.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212848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26836" y="2331720"/>
            <a:ext cx="100584" cy="1095693"/>
          </a:xfrm>
          <a:prstGeom prst="rect">
            <a:avLst/>
          </a:prstGeom>
          <a:solidFill>
            <a:srgbClr val="18304B"/>
          </a:solidFill>
          <a:ln>
            <a:solidFill>
              <a:srgbClr val="18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31720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SWITCH &amp; BREAK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88336"/>
            <a:ext cx="4398264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switch (choice) routes the selected menu operation; break ends a case.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858768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8116" y="4068679"/>
            <a:ext cx="82296" cy="1041627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977639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FOR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34256"/>
            <a:ext cx="4398264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for (int i = 0; i &lt; count; i++) processes each registered area.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858768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54268" y="4017390"/>
            <a:ext cx="106680" cy="1144207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6172200" y="3977639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DO–WHILE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334256"/>
            <a:ext cx="4398264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Repeats the menu until choice != 7 is false, allowing repeated operations.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" y="5495544"/>
            <a:ext cx="97840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5E7080"/>
                </a:solidFill>
                <a:latin typeface="Aptos"/>
              </a:defRPr>
            </a:pPr>
            <a:r>
              <a:t>CO application: control program flow and process multiple records efficiently.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t>CO 3 — Methods, Arrays &amp; Method Overloading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19072"/>
            <a:ext cx="1143000" cy="310896"/>
          </a:xfrm>
          <a:prstGeom prst="round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MODULE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0680" y="2212848"/>
            <a:ext cx="3154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4673" y="2541013"/>
            <a:ext cx="83439" cy="1666433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99471" y="2356927"/>
            <a:ext cx="2843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88336"/>
            <a:ext cx="2843784" cy="17830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addArea() registers a new area.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displayAreas() displays stored records.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Reusable methods keep tasks organized.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212848"/>
            <a:ext cx="3154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16528" y="2482691"/>
            <a:ext cx="82295" cy="1783079"/>
          </a:xfrm>
          <a:prstGeom prst="rect">
            <a:avLst/>
          </a:prstGeom>
          <a:solidFill>
            <a:srgbClr val="18304B"/>
          </a:solidFill>
          <a:ln>
            <a:solidFill>
              <a:srgbClr val="18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98848" y="2331720"/>
            <a:ext cx="2843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ARRAYS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688336"/>
            <a:ext cx="2843784" cy="17830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areaNames[] stores area names.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wasteAmounts[] stores quantities.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Matching indexes link each area to its waste amount.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71816" y="2212848"/>
            <a:ext cx="31546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598664" y="2494819"/>
            <a:ext cx="98298" cy="1792033"/>
          </a:xfrm>
          <a:prstGeom prst="rect">
            <a:avLst/>
          </a:prstGeom>
          <a:solidFill>
            <a:srgbClr val="E29238"/>
          </a:solidFill>
          <a:ln>
            <a:solidFill>
              <a:srgbClr val="E2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54696" y="2331720"/>
            <a:ext cx="284378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OVERLOADING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4696" y="2688336"/>
            <a:ext cx="2843784" cy="178307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232D37"/>
                </a:solidFill>
                <a:latin typeface="Aptos"/>
              </a:defRPr>
            </a:pPr>
            <a:r>
              <a:t>calculateTotalWaste()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32D37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232D37"/>
                </a:solidFill>
                <a:latin typeface="Aptos"/>
              </a:defRPr>
            </a:pPr>
            <a:r>
              <a:t>calculateTotalWaste(double extraWaste)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232D37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300" b="0">
                <a:solidFill>
                  <a:srgbClr val="232D37"/>
                </a:solidFill>
                <a:latin typeface="Aptos"/>
              </a:defRPr>
            </a:pPr>
            <a:r>
              <a:t>Two signatures support normal and additional-waste totals.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956048"/>
            <a:ext cx="9784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6845E"/>
                </a:solidFill>
                <a:latin typeface="Aptos"/>
              </a:defRPr>
            </a:pPr>
            <a:r>
              <a:t>CO application: structure the program, manage multiple entries, and reuse total calculations.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rPr dirty="0"/>
              <a:t>CO 4 — Inheritance &amp; Exception Handling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19072"/>
            <a:ext cx="1143000" cy="310896"/>
          </a:xfrm>
          <a:prstGeom prst="round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MODULE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212848"/>
            <a:ext cx="47091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2212848"/>
            <a:ext cx="82296" cy="2286000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4398264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rPr dirty="0"/>
              <a:t>INHERITANCE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88336"/>
            <a:ext cx="4398264" cy="1737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r>
              <a:rPr dirty="0"/>
              <a:t>class </a:t>
            </a:r>
            <a:r>
              <a:rPr dirty="0" err="1"/>
              <a:t>PriorityCollection</a:t>
            </a:r>
            <a:r>
              <a:rPr dirty="0"/>
              <a:t> extends </a:t>
            </a:r>
            <a:r>
              <a:rPr dirty="0" err="1"/>
              <a:t>WasteCollection</a:t>
            </a:r>
            <a:endParaRPr dirty="0"/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r>
              <a:rPr dirty="0"/>
              <a:t>The child class reuses suitable fields and methods from the parent class.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r>
              <a:rPr dirty="0" err="1"/>
              <a:t>PriorityCollection</a:t>
            </a:r>
            <a:r>
              <a:rPr dirty="0"/>
              <a:t>(int size) calls super(size) to initialize the parent portion.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212848"/>
            <a:ext cx="4910328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2212848"/>
            <a:ext cx="82296" cy="2286000"/>
          </a:xfrm>
          <a:prstGeom prst="rect">
            <a:avLst/>
          </a:prstGeom>
          <a:solidFill>
            <a:srgbClr val="E29238"/>
          </a:solidFill>
          <a:ln>
            <a:solidFill>
              <a:srgbClr val="E2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31720"/>
            <a:ext cx="4398264" cy="3416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rPr dirty="0"/>
              <a:t>EXCEPTION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88336"/>
            <a:ext cx="4398264" cy="1737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r>
              <a:rPr dirty="0"/>
              <a:t>A try-catch block handles invalid numeric input.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r>
              <a:rPr dirty="0"/>
              <a:t>catch (</a:t>
            </a:r>
            <a:r>
              <a:rPr dirty="0" err="1"/>
              <a:t>NumberFormatException</a:t>
            </a:r>
            <a:r>
              <a:rPr dirty="0"/>
              <a:t> e)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r>
              <a:rPr dirty="0"/>
              <a:t>This helps prevent a malformed number from terminating the program unexpectedly.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892040"/>
            <a:ext cx="9784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6845E"/>
                </a:solidFill>
                <a:latin typeface="Aptos"/>
              </a:defRPr>
            </a:pPr>
            <a:r>
              <a:t>CO application: extend functionality through inheritance and make input handling more robust.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t>CO 5 — String Operations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19072"/>
            <a:ext cx="1143000" cy="310896"/>
          </a:xfrm>
          <a:prstGeom prst="round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212848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0120" y="2212848"/>
            <a:ext cx="82296" cy="1417320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STRING DECLARATION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88336"/>
            <a:ext cx="4398264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String name and String type store area names and waste categories.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212848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2212848"/>
            <a:ext cx="82296" cy="1417320"/>
          </a:xfrm>
          <a:prstGeom prst="rect">
            <a:avLst/>
          </a:prstGeom>
          <a:solidFill>
            <a:srgbClr val="18304B"/>
          </a:solidFill>
          <a:ln>
            <a:solidFill>
              <a:srgbClr val="18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31720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trim()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88336"/>
            <a:ext cx="4398264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sc.nextLine().trim() removes leading and trailing spaces from input.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858768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0120" y="3858768"/>
            <a:ext cx="82296" cy="1417320"/>
          </a:xfrm>
          <a:prstGeom prst="rect">
            <a:avLst/>
          </a:prstGeom>
          <a:solidFill>
            <a:srgbClr val="E29238"/>
          </a:solidFill>
          <a:ln>
            <a:solidFill>
              <a:srgbClr val="E2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3977639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isEmpty()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334256"/>
            <a:ext cx="4398264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if (name.isEmpty()) checks whether the entered area name is empty.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858768"/>
            <a:ext cx="47091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89320" y="3858768"/>
            <a:ext cx="82296" cy="1417320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3977639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STRING CONCATENATION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334256"/>
            <a:ext cx="4398264" cy="8686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t>"Area: " + areaNames[i] combines a label with the stored area name for reports.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5486400"/>
            <a:ext cx="97840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5E7080"/>
                </a:solidFill>
                <a:latin typeface="Aptos"/>
              </a:defRPr>
            </a:pPr>
            <a:r>
              <a:t>CO application: clean, validate, and present text data clearly.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t>CO 6 — ArrayList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19072"/>
            <a:ext cx="1143000" cy="310896"/>
          </a:xfrm>
          <a:prstGeom prst="round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MODULE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86049"/>
            <a:ext cx="4928616" cy="2415767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flipH="1">
            <a:off x="957070" y="2300032"/>
            <a:ext cx="45719" cy="2301783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331720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DYNAMIC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88336"/>
            <a:ext cx="4398264" cy="1691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r>
              <a:t>ArrayList&lt;String&gt; registeredAreas = new ArrayList&lt;&gt;();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endParaRPr/>
          </a:p>
          <a:p>
            <a:pPr algn="l">
              <a:spcAft>
                <a:spcPts val="600"/>
              </a:spcAft>
              <a:defRPr sz="1500" b="0">
                <a:solidFill>
                  <a:srgbClr val="232D37"/>
                </a:solidFill>
                <a:latin typeface="Aptos"/>
              </a:defRPr>
            </a:pPr>
            <a:r>
              <a:t>The list can grow as area names are registered, without defining a fixed size in advance.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212847"/>
            <a:ext cx="4709160" cy="2388969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89320" y="2212847"/>
            <a:ext cx="50292" cy="2327467"/>
          </a:xfrm>
          <a:prstGeom prst="rect">
            <a:avLst/>
          </a:prstGeom>
          <a:solidFill>
            <a:srgbClr val="18304B"/>
          </a:solidFill>
          <a:ln>
            <a:solidFill>
              <a:srgbClr val="18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31720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t>COMMON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88336"/>
            <a:ext cx="4398264" cy="1691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rPr dirty="0" err="1"/>
              <a:t>registeredAreas.add</a:t>
            </a:r>
            <a:r>
              <a:rPr dirty="0"/>
              <a:t>(name) adds an area.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rPr dirty="0" err="1"/>
              <a:t>registeredAreas.isEmpty</a:t>
            </a:r>
            <a:r>
              <a:rPr dirty="0"/>
              <a:t>() checks whether the list has entries.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endParaRPr dirty="0"/>
          </a:p>
          <a:p>
            <a:pPr algn="l">
              <a:spcAft>
                <a:spcPts val="600"/>
              </a:spcAft>
              <a:defRPr sz="1400" b="0">
                <a:solidFill>
                  <a:srgbClr val="232D37"/>
                </a:solidFill>
                <a:latin typeface="Aptos"/>
              </a:defRPr>
            </a:pPr>
            <a:r>
              <a:rPr dirty="0"/>
              <a:t>for (String area : </a:t>
            </a:r>
            <a:r>
              <a:rPr dirty="0" err="1"/>
              <a:t>registeredAreas</a:t>
            </a:r>
            <a:r>
              <a:rPr dirty="0"/>
              <a:t>) displays every registered area.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070" y="4878324"/>
            <a:ext cx="978408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26845E"/>
                </a:solidFill>
                <a:latin typeface="Aptos"/>
              </a:defRPr>
            </a:pPr>
            <a:r>
              <a:t>CO application: maintain and display a flexible list of successfully registered areas.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737360"/>
            <a:ext cx="2767054" cy="548640"/>
          </a:xfrm>
          <a:prstGeom prst="round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452339"/>
            <a:ext cx="9875520" cy="265176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•  The project organizes waste quantities and area names in a structured Java program.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•  Loops, conditions, and a menu help users process records and identify high-priority areas.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•  Methods, arrays, and overloading support reusable calculations and efficient data handling.</a:t>
            </a:r>
          </a:p>
          <a:p>
            <a:pPr>
              <a:spcAft>
                <a:spcPts val="1200"/>
              </a:spcAft>
              <a:defRPr sz="1700">
                <a:solidFill>
                  <a:srgbClr val="232D37"/>
                </a:solidFill>
                <a:latin typeface="Aptos"/>
              </a:defRPr>
            </a:pPr>
            <a:r>
              <a:rPr dirty="0"/>
              <a:t>•  Inheritance, exception handling, String operations, and </a:t>
            </a:r>
            <a:r>
              <a:rPr dirty="0" err="1"/>
              <a:t>ArrayList</a:t>
            </a:r>
            <a:r>
              <a:rPr dirty="0"/>
              <a:t> improve extensibility and input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074920"/>
            <a:ext cx="9966960" cy="658368"/>
          </a:xfrm>
          <a:prstGeom prst="roundRect">
            <a:avLst/>
          </a:prstGeom>
          <a:solidFill>
            <a:srgbClr val="E5F4EC"/>
          </a:solidFill>
          <a:ln>
            <a:solidFill>
              <a:srgbClr val="E5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5193792"/>
            <a:ext cx="95097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600"/>
              </a:spcAft>
              <a:defRPr sz="1600" b="1">
                <a:solidFill>
                  <a:srgbClr val="26845E"/>
                </a:solidFill>
                <a:latin typeface="Aptos"/>
              </a:defRPr>
            </a:pPr>
            <a:r>
              <a:t>Outcome: a clear foundation for more systematic waste collection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736" y="-265811"/>
            <a:ext cx="10515600" cy="1325563"/>
          </a:xfrm>
        </p:spPr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rPr dirty="0"/>
              <a:t>Program Screenshots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AEF1BC-B54C-5368-B12F-EEC9D6366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77824"/>
            <a:ext cx="2624328" cy="1508760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7D82332-F29A-EEEA-36CB-9A359F9B122F}"/>
              </a:ext>
            </a:extLst>
          </p:cNvPr>
          <p:cNvSpPr/>
          <p:nvPr/>
        </p:nvSpPr>
        <p:spPr>
          <a:xfrm>
            <a:off x="2734056" y="1453896"/>
            <a:ext cx="393192" cy="13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57021A-8CA9-3069-C689-321B6928D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75" y="900684"/>
            <a:ext cx="2546223" cy="148590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D030D92D-6ED2-EC39-E477-A948BC6FAF96}"/>
              </a:ext>
            </a:extLst>
          </p:cNvPr>
          <p:cNvSpPr/>
          <p:nvPr/>
        </p:nvSpPr>
        <p:spPr>
          <a:xfrm>
            <a:off x="5888736" y="1453896"/>
            <a:ext cx="402336" cy="1371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A2E6DAD-1848-81DA-11E5-FC927E413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367" y="877824"/>
            <a:ext cx="2546223" cy="1508760"/>
          </a:xfrm>
          <a:prstGeom prst="rect">
            <a:avLst/>
          </a:prstGeom>
        </p:spPr>
      </p:pic>
      <p:sp>
        <p:nvSpPr>
          <p:cNvPr id="26" name="Arrow: Right 25">
            <a:extLst>
              <a:ext uri="{FF2B5EF4-FFF2-40B4-BE49-F238E27FC236}">
                <a16:creationId xmlns:a16="http://schemas.microsoft.com/office/drawing/2014/main" id="{1FBF7F0F-DE92-B5DE-532D-DCE024C74720}"/>
              </a:ext>
            </a:extLst>
          </p:cNvPr>
          <p:cNvSpPr/>
          <p:nvPr/>
        </p:nvSpPr>
        <p:spPr>
          <a:xfrm>
            <a:off x="9027222" y="1458468"/>
            <a:ext cx="430722" cy="1325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AF87864-0B88-8F87-0C42-494AE2AFAD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7759" y="919734"/>
            <a:ext cx="2646045" cy="146685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643D484-19DB-D808-4843-B6F8A1390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620" y="2595623"/>
            <a:ext cx="4434840" cy="177584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BC948B2-55D5-2F94-B3A1-27626E10CD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4504" y="3044444"/>
            <a:ext cx="2590800" cy="97155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FEEC172-1D0E-E511-90AA-7308B653F1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4782" y="2595623"/>
            <a:ext cx="3933825" cy="177584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5ADB65E-37B2-5BDD-4986-8DEC6B61BB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973" y="4761357"/>
            <a:ext cx="4400550" cy="154407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26506D6-6A8C-D1D2-81C0-18B3CF0DE52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5900" y="4761357"/>
            <a:ext cx="4382643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7228" y="-137126"/>
            <a:ext cx="10515600" cy="1325563"/>
          </a:xfrm>
        </p:spPr>
        <p:txBody>
          <a:bodyPr wrap="square"/>
          <a:lstStyle/>
          <a:p>
            <a:pPr>
              <a:spcAft>
                <a:spcPts val="500"/>
              </a:spcAft>
              <a:defRPr sz="2800" b="1">
                <a:solidFill>
                  <a:srgbClr val="18304B"/>
                </a:solidFill>
                <a:latin typeface="Aptos Display"/>
              </a:defRPr>
            </a:pPr>
            <a:r>
              <a:rPr dirty="0"/>
              <a:t>Geo-Tagged Photo &amp; GitHub Link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15-10-2026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sz="900">
                <a:solidFill>
                  <a:srgbClr val="5E70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7" y="2010822"/>
            <a:ext cx="5215129" cy="3347561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514732" y="2335074"/>
            <a:ext cx="97916" cy="2511246"/>
          </a:xfrm>
          <a:prstGeom prst="rect">
            <a:avLst/>
          </a:prstGeom>
          <a:solidFill>
            <a:srgbClr val="26845E"/>
          </a:solidFill>
          <a:ln>
            <a:solidFill>
              <a:srgbClr val="2684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47216" y="2132410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rPr dirty="0"/>
              <a:t>GEO-TAGGED PROJECT PHOTO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4224" y="2010822"/>
            <a:ext cx="5215129" cy="3347561"/>
          </a:xfrm>
          <a:prstGeom prst="roundRect">
            <a:avLst/>
          </a:prstGeom>
          <a:solidFill>
            <a:srgbClr val="FFFFFF"/>
          </a:solidFill>
          <a:ln>
            <a:solidFill>
              <a:srgbClr val="D3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hlinkClick r:id="rId2"/>
              </a:rPr>
              <a:t>GitHub - jayachandra2009/KLH-CSE-PSPJAVA-25-MunicipalWasteCollectionOptimizer: PSPJAVA Municipal Waste Collection Optimizer · GitHub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64224" y="2335074"/>
            <a:ext cx="115824" cy="2346654"/>
          </a:xfrm>
          <a:prstGeom prst="rect">
            <a:avLst/>
          </a:prstGeom>
          <a:solidFill>
            <a:srgbClr val="18304B"/>
          </a:solidFill>
          <a:ln>
            <a:solidFill>
              <a:srgbClr val="1830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2776" y="2132410"/>
            <a:ext cx="4398264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8304B"/>
                </a:solidFill>
                <a:latin typeface="Aptos"/>
              </a:defRPr>
            </a:pPr>
            <a:r>
              <a:rPr dirty="0"/>
              <a:t>GITHUB REPOSITORY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41554D-43DF-3CAD-F8E2-CD7767457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2443306"/>
            <a:ext cx="4221480" cy="26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899</Words>
  <Application>Microsoft Office PowerPoint</Application>
  <PresentationFormat>Widescreen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WASTE COLLECTION AND MANAGEMENT Team No: []</vt:lpstr>
      <vt:lpstr>Abstract</vt:lpstr>
      <vt:lpstr>Understanding the Problem Statement</vt:lpstr>
      <vt:lpstr>CO 1 — Data Types, Operators &amp; Scanner</vt:lpstr>
      <vt:lpstr>CO 2 — Loops &amp; Conditional Statements</vt:lpstr>
      <vt:lpstr>CO 3 — Methods, Arrays &amp; Method Overloading</vt:lpstr>
      <vt:lpstr>CO 4 — Inheritance &amp; Exception Handling</vt:lpstr>
      <vt:lpstr>CO 5 — String Operations</vt:lpstr>
      <vt:lpstr>CO 6 — ArrayList</vt:lpstr>
      <vt:lpstr>Conclusion</vt:lpstr>
      <vt:lpstr>Program Screenshots</vt:lpstr>
      <vt:lpstr>Geo-Tagged Photo &amp; GitHub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jayachandra yadav</cp:lastModifiedBy>
  <cp:revision>8</cp:revision>
  <dcterms:created xsi:type="dcterms:W3CDTF">2026-09-15T09:57:10Z</dcterms:created>
  <dcterms:modified xsi:type="dcterms:W3CDTF">2026-10-16T03:29:17Z</dcterms:modified>
</cp:coreProperties>
</file>